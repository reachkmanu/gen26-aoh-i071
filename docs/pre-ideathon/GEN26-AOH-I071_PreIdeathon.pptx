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3633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76151"/>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33400" y="2420361"/>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2910591"/>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452628" y="3291840"/>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Optimus Prime</a:t>
            </a:r>
            <a:endParaRPr lang="en-US" sz="1800" dirty="0"/>
          </a:p>
          <a:p>
            <a:pPr marL="279400" indent="-279400">
              <a:spcAft>
                <a:spcPts val="1400"/>
              </a:spcAft>
              <a:buClr>
                <a:schemeClr val="accent3"/>
              </a:buClr>
              <a:buSzPct val="100000"/>
              <a:buChar char="•"/>
            </a:pPr>
            <a:r>
              <a:rPr lang="en-US" sz="1800" dirty="0">
                <a:solidFill>
                  <a:schemeClr val="bg1"/>
                </a:solidFill>
              </a:rPr>
              <a:t>Team Members –</a:t>
            </a:r>
            <a:r>
              <a:rPr lang="en-US" dirty="0">
                <a:solidFill>
                  <a:schemeClr val="bg1"/>
                </a:solidFill>
              </a:rPr>
              <a:t> G A Yuvan (CB.EN.U4ARE25014)</a:t>
            </a:r>
          </a:p>
          <a:p>
            <a:pPr>
              <a:spcAft>
                <a:spcPts val="1400"/>
              </a:spcAft>
              <a:buClr>
                <a:schemeClr val="accent3"/>
              </a:buClr>
              <a:buSzPct val="100000"/>
            </a:pPr>
            <a:r>
              <a:rPr lang="en-US" dirty="0">
                <a:solidFill>
                  <a:schemeClr val="bg1"/>
                </a:solidFill>
              </a:rPr>
              <a:t>  	                –  Manu K (CB.EN.U4ARE25026)</a:t>
            </a:r>
          </a:p>
          <a:p>
            <a:pPr>
              <a:spcAft>
                <a:spcPts val="1400"/>
              </a:spcAft>
              <a:buClr>
                <a:schemeClr val="accent3"/>
              </a:buClr>
              <a:buSzPct val="100000"/>
            </a:pPr>
            <a:r>
              <a:rPr lang="en-US" sz="1800" dirty="0">
                <a:solidFill>
                  <a:schemeClr val="bg1"/>
                </a:solidFill>
              </a:rPr>
              <a:t>	</a:t>
            </a:r>
            <a:r>
              <a:rPr lang="en-US" dirty="0">
                <a:solidFill>
                  <a:schemeClr val="bg1"/>
                </a:solidFill>
              </a:rPr>
              <a:t>                – Kousik Kumar (CB.EN.U4ARE25022)</a:t>
            </a:r>
          </a:p>
          <a:p>
            <a:pPr>
              <a:spcAft>
                <a:spcPts val="1400"/>
              </a:spcAft>
              <a:buClr>
                <a:schemeClr val="accent3"/>
              </a:buClr>
              <a:buSzPct val="100000"/>
            </a:pPr>
            <a:r>
              <a:rPr lang="en-US" sz="1800" dirty="0">
                <a:solidFill>
                  <a:schemeClr val="bg1"/>
                </a:solidFill>
              </a:rPr>
              <a:t>                                  </a:t>
            </a:r>
            <a:r>
              <a:rPr lang="en-US" dirty="0">
                <a:solidFill>
                  <a:schemeClr val="bg1"/>
                </a:solidFill>
              </a:rPr>
              <a:t>– Harshitha </a:t>
            </a:r>
            <a:r>
              <a:rPr lang="en-US" dirty="0" err="1">
                <a:solidFill>
                  <a:schemeClr val="bg1"/>
                </a:solidFill>
              </a:rPr>
              <a:t>Kothandam</a:t>
            </a:r>
            <a:r>
              <a:rPr lang="en-US" dirty="0">
                <a:solidFill>
                  <a:schemeClr val="bg1"/>
                </a:solidFill>
              </a:rPr>
              <a:t> Sasikumar 			(CB.EN.U4ARE25021)</a:t>
            </a:r>
            <a:endParaRPr lang="en-US" sz="1800" dirty="0"/>
          </a:p>
          <a:p>
            <a:pPr marL="279400" indent="-279400">
              <a:spcAft>
                <a:spcPts val="1400"/>
              </a:spcAft>
              <a:buClr>
                <a:schemeClr val="accent3"/>
              </a:buClr>
              <a:buSzPct val="100000"/>
              <a:buChar char="•"/>
            </a:pPr>
            <a:r>
              <a:rPr lang="en-US" sz="1800" dirty="0">
                <a:solidFill>
                  <a:schemeClr val="bg1"/>
                </a:solidFill>
              </a:rPr>
              <a:t>Selected Domain – #2</a:t>
            </a:r>
            <a:endParaRPr lang="en-US" sz="1800" dirty="0"/>
          </a:p>
          <a:p>
            <a:pPr marL="279400" indent="-279400">
              <a:spcAft>
                <a:spcPts val="1400"/>
              </a:spcAft>
              <a:buClr>
                <a:schemeClr val="accent3"/>
              </a:buClr>
              <a:buSzPct val="100000"/>
              <a:buChar char="•"/>
            </a:pPr>
            <a:r>
              <a:rPr lang="en-US" sz="1800" dirty="0">
                <a:solidFill>
                  <a:schemeClr val="bg1"/>
                </a:solidFill>
              </a:rPr>
              <a:t>Problem Statement – </a:t>
            </a:r>
            <a:r>
              <a:rPr lang="en-GB" dirty="0">
                <a:solidFill>
                  <a:schemeClr val="bg1"/>
                </a:solidFill>
              </a:rPr>
              <a:t>Thermally-Managed Solid-State Battery Module with Embedded Micro-Sensors.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Optimus Prime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10" name="Prompts"/>
          <p:cNvSpPr txBox="1"/>
          <p:nvPr/>
        </p:nvSpPr>
        <p:spPr>
          <a:xfrm>
            <a:off x="1005840" y="128016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p>
          <a:p>
            <a:pPr>
              <a:spcAft>
                <a:spcPts val="1000"/>
              </a:spcAft>
              <a:buClr>
                <a:schemeClr val="accent1"/>
              </a:buClr>
              <a:buSzPct val="100000"/>
            </a:pPr>
            <a:r>
              <a:rPr lang="en-US" dirty="0"/>
              <a:t>During DC fast-charging, cells heat unevenly and hot spots form at cell interfaces and tabs, where standard cooling cannot reach in time. Most packs in the market only sense temperature at module level, so local temperature differences between cells go unnoticed until they become large. The cooling is usually applied across the pack instead of where the heat is, which wastes energy and still leaves some cells hot.</a:t>
            </a:r>
          </a:p>
          <a:p>
            <a:pPr marL="279400" indent="-279400">
              <a:spcAft>
                <a:spcPts val="1000"/>
              </a:spcAft>
              <a:buClr>
                <a:schemeClr val="accent1"/>
              </a:buClr>
              <a:buSzPct val="100000"/>
              <a:buChar char="•"/>
            </a:pPr>
            <a:r>
              <a:rPr lang="en-US" sz="1800" dirty="0">
                <a:solidFill>
                  <a:schemeClr val="tx1"/>
                </a:solidFill>
              </a:rPr>
              <a:t>Why is it important right now?</a:t>
            </a:r>
          </a:p>
          <a:p>
            <a:pPr>
              <a:spcAft>
                <a:spcPts val="1000"/>
              </a:spcAft>
              <a:buClr>
                <a:schemeClr val="accent1"/>
              </a:buClr>
              <a:buSzPct val="100000"/>
            </a:pPr>
            <a:r>
              <a:rPr lang="en-US" dirty="0"/>
              <a:t>Faster charging (150 kW and above) generates more heat, and uneven heating makes cells age at different rates, reducing the pack life. The persistent overheating that occurs also raises thermal runaway risk, which is one of the main safety concerns in EV batteries. The newer solid-state cells are still at pilot stage but have different thermal needs, so a smart cooling and sensing approach is important now.</a:t>
            </a:r>
          </a:p>
          <a:p>
            <a:pPr marL="400050" indent="-400050">
              <a:spcAft>
                <a:spcPts val="1000"/>
              </a:spcAft>
              <a:buClr>
                <a:schemeClr val="accent1"/>
              </a:buClr>
              <a:buSzPct val="100000"/>
              <a:buFont typeface="+mj-lt"/>
              <a:buAutoNum type="romanLcPeriod"/>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Optimus Prime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4206240"/>
          </a:xfrm>
          <a:prstGeom prst="rect">
            <a:avLst/>
          </a:prstGeom>
          <a:noFill/>
          <a:ln/>
        </p:spPr>
        <p:txBody>
          <a:bodyPr wrap="square" lIns="0" tIns="0" rIns="0" bIns="0" rtlCol="0" anchor="t"/>
          <a:lstStyle/>
          <a:p>
            <a:pPr marL="279400" indent="-279400">
              <a:spcAft>
                <a:spcPts val="900"/>
              </a:spcAft>
              <a:buClr>
                <a:schemeClr val="accent1"/>
              </a:buClr>
              <a:buSzPct val="100000"/>
              <a:buChar char="•"/>
            </a:pPr>
            <a:r>
              <a:rPr lang="en-US" sz="2000" b="1" dirty="0">
                <a:solidFill>
                  <a:schemeClr val="tx1"/>
                </a:solidFill>
              </a:rPr>
              <a:t>Primary users / target group</a:t>
            </a:r>
          </a:p>
          <a:p>
            <a:pPr marL="400050" indent="-400050">
              <a:spcAft>
                <a:spcPts val="700"/>
              </a:spcAft>
              <a:buClr>
                <a:schemeClr val="accent1"/>
              </a:buClr>
              <a:buSzPct val="100000"/>
              <a:buFont typeface="+mj-lt"/>
              <a:buAutoNum type="romanLcPeriod"/>
            </a:pPr>
            <a:r>
              <a:rPr lang="en-US" sz="1800" dirty="0">
                <a:solidFill>
                  <a:schemeClr val="tx1"/>
                </a:solidFill>
              </a:rPr>
              <a:t>EV owners and fleet operators (cabs, delivery vehicles, buses) who fast-charge frequently</a:t>
            </a:r>
          </a:p>
          <a:p>
            <a:pPr marL="400050" indent="-400050">
              <a:spcAft>
                <a:spcPts val="700"/>
              </a:spcAft>
              <a:buClr>
                <a:schemeClr val="accent1"/>
              </a:buClr>
              <a:buSzPct val="100000"/>
              <a:buFont typeface="+mj-lt"/>
              <a:buAutoNum type="romanLcPeriod"/>
            </a:pPr>
            <a:r>
              <a:rPr lang="en-US" sz="1800" dirty="0">
                <a:solidFill>
                  <a:schemeClr val="tx1"/>
                </a:solidFill>
              </a:rPr>
              <a:t>EV and battery-pack manufacturers who design and validate thermal management systems</a:t>
            </a:r>
          </a:p>
          <a:p>
            <a:pPr marL="279400" indent="-279400">
              <a:spcAft>
                <a:spcPts val="900"/>
              </a:spcAft>
              <a:buClr>
                <a:schemeClr val="accent1"/>
              </a:buClr>
              <a:buSzPct val="100000"/>
              <a:buChar char="•"/>
            </a:pPr>
            <a:r>
              <a:rPr lang="en-US" sz="2000" b="1" dirty="0">
                <a:solidFill>
                  <a:schemeClr val="tx1"/>
                </a:solidFill>
              </a:rPr>
              <a:t>Secondary stakeholders</a:t>
            </a:r>
          </a:p>
          <a:p>
            <a:pPr marL="400050" indent="-400050">
              <a:spcAft>
                <a:spcPts val="700"/>
              </a:spcAft>
              <a:buClr>
                <a:schemeClr val="accent1"/>
              </a:buClr>
              <a:buSzPct val="100000"/>
              <a:buFont typeface="+mj-lt"/>
              <a:buAutoNum type="romanLcPeriod"/>
            </a:pPr>
            <a:r>
              <a:rPr lang="en-US" sz="1800" dirty="0">
                <a:solidFill>
                  <a:schemeClr val="tx1"/>
                </a:solidFill>
              </a:rPr>
              <a:t>Charging network operators, OEM warranty and service teams, and vehicle insurers</a:t>
            </a:r>
          </a:p>
          <a:p>
            <a:pPr marL="279400" indent="-279400">
              <a:spcAft>
                <a:spcPts val="900"/>
              </a:spcAft>
              <a:buClr>
                <a:schemeClr val="accent1"/>
              </a:buClr>
              <a:buSzPct val="100000"/>
              <a:buChar char="•"/>
            </a:pPr>
            <a:r>
              <a:rPr lang="en-US" sz="2000" b="1" dirty="0">
                <a:solidFill>
                  <a:schemeClr val="tx1"/>
                </a:solidFill>
              </a:rPr>
              <a:t>Who benefits if the problem is solved?</a:t>
            </a:r>
          </a:p>
          <a:p>
            <a:pPr marL="400050" indent="-400050">
              <a:spcAft>
                <a:spcPts val="700"/>
              </a:spcAft>
              <a:buClr>
                <a:schemeClr val="accent1"/>
              </a:buClr>
              <a:buSzPct val="100000"/>
              <a:buFont typeface="+mj-lt"/>
              <a:buAutoNum type="romanLcPeriod"/>
            </a:pPr>
            <a:r>
              <a:rPr lang="en-US" sz="1800" dirty="0">
                <a:solidFill>
                  <a:schemeClr val="tx1"/>
                </a:solidFill>
              </a:rPr>
              <a:t>Drivers and fleets: faster, safer charging and longer battery life, which lowers cost per kilometre</a:t>
            </a:r>
          </a:p>
          <a:p>
            <a:pPr marL="400050" indent="-400050">
              <a:spcAft>
                <a:spcPts val="700"/>
              </a:spcAft>
              <a:buClr>
                <a:schemeClr val="accent1"/>
              </a:buClr>
              <a:buSzPct val="100000"/>
              <a:buFont typeface="+mj-lt"/>
              <a:buAutoNum type="romanLcPeriod"/>
            </a:pPr>
            <a:r>
              <a:rPr lang="en-US" sz="1800" dirty="0">
                <a:solidFill>
                  <a:schemeClr val="tx1"/>
                </a:solidFill>
              </a:rPr>
              <a:t>Manufacturers: fewer warranty claims, and a thermal design that can carry over to future solid-state packs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Optimus Prime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148840"/>
            <a:ext cx="10424160" cy="4206240"/>
          </a:xfrm>
          <a:prstGeom prst="rect">
            <a:avLst/>
          </a:prstGeom>
          <a:noFill/>
          <a:ln/>
        </p:spPr>
        <p:txBody>
          <a:bodyPr wrap="square" lIns="0" tIns="0" rIns="0" bIns="0" rtlCol="0" anchor="t"/>
          <a:lstStyle/>
          <a:p>
            <a:pPr marL="279400" indent="-279400">
              <a:spcAft>
                <a:spcPts val="900"/>
              </a:spcAft>
              <a:buClr>
                <a:schemeClr val="accent1"/>
              </a:buClr>
              <a:buSzPct val="100000"/>
              <a:buChar char="•"/>
            </a:pPr>
            <a:r>
              <a:rPr lang="en-US" sz="2000" b="1" dirty="0">
                <a:solidFill>
                  <a:schemeClr val="tx1"/>
                </a:solidFill>
              </a:rPr>
              <a:t>Existing scenario and background</a:t>
            </a:r>
          </a:p>
          <a:p>
            <a:pPr marL="400050" indent="-400050">
              <a:spcAft>
                <a:spcPts val="700"/>
              </a:spcAft>
              <a:buClr>
                <a:schemeClr val="accent1"/>
              </a:buClr>
              <a:buSzPct val="100000"/>
              <a:buFont typeface="+mj-lt"/>
              <a:buAutoNum type="romanLcPeriod"/>
            </a:pPr>
            <a:r>
              <a:rPr lang="en-US" sz="1800" dirty="0">
                <a:solidFill>
                  <a:schemeClr val="tx1"/>
                </a:solidFill>
              </a:rPr>
              <a:t>Most EVs use lithium-ion packs cooled by liquid cold plates or cooling ribbons, managed by a battery management system (BMS)</a:t>
            </a:r>
          </a:p>
          <a:p>
            <a:pPr marL="400050" indent="-400050">
              <a:spcAft>
                <a:spcPts val="700"/>
              </a:spcAft>
              <a:buClr>
                <a:schemeClr val="accent1"/>
              </a:buClr>
              <a:buSzPct val="100000"/>
              <a:buFont typeface="+mj-lt"/>
              <a:buAutoNum type="romanLcPeriod"/>
            </a:pPr>
            <a:r>
              <a:rPr lang="en-US" sz="1800" dirty="0">
                <a:solidFill>
                  <a:schemeClr val="tx1"/>
                </a:solidFill>
              </a:rPr>
              <a:t>Chargers of 150 kW and above are becoming common, which increases heat generation inside the pack</a:t>
            </a:r>
          </a:p>
          <a:p>
            <a:pPr marL="279400" indent="-279400">
              <a:spcAft>
                <a:spcPts val="900"/>
              </a:spcAft>
              <a:buClr>
                <a:schemeClr val="accent1"/>
              </a:buClr>
              <a:buSzPct val="100000"/>
              <a:buChar char="•"/>
            </a:pPr>
            <a:r>
              <a:rPr lang="en-US" sz="2000" b="1" dirty="0">
                <a:solidFill>
                  <a:schemeClr val="tx1"/>
                </a:solidFill>
              </a:rPr>
              <a:t>Relevant data or facts (if available)</a:t>
            </a:r>
          </a:p>
          <a:p>
            <a:pPr marL="400050" indent="-400050">
              <a:spcAft>
                <a:spcPts val="700"/>
              </a:spcAft>
              <a:buClr>
                <a:schemeClr val="accent1"/>
              </a:buClr>
              <a:buSzPct val="100000"/>
              <a:buFont typeface="+mj-lt"/>
              <a:buAutoNum type="romanLcPeriod"/>
            </a:pPr>
            <a:r>
              <a:rPr lang="en-US" sz="1800" dirty="0">
                <a:solidFill>
                  <a:schemeClr val="tx1"/>
                </a:solidFill>
              </a:rPr>
              <a:t>Li-ion cells are commonly kept near 25–40 °C, with cell-to-cell spread ideally within a few degrees</a:t>
            </a:r>
          </a:p>
          <a:p>
            <a:pPr marL="400050" indent="-400050">
              <a:spcAft>
                <a:spcPts val="700"/>
              </a:spcAft>
              <a:buClr>
                <a:schemeClr val="accent1"/>
              </a:buClr>
              <a:buSzPct val="100000"/>
              <a:buFont typeface="+mj-lt"/>
              <a:buAutoNum type="romanLcPeriod"/>
            </a:pPr>
            <a:r>
              <a:rPr lang="en-US" sz="1800" dirty="0">
                <a:solidFill>
                  <a:schemeClr val="tx1"/>
                </a:solidFill>
              </a:rPr>
              <a:t>Resistive heating scales with current squared (I²R), so doubling charge current roughly quadruples it</a:t>
            </a:r>
          </a:p>
          <a:p>
            <a:pPr marL="279400" indent="-279400">
              <a:spcAft>
                <a:spcPts val="900"/>
              </a:spcAft>
              <a:buClr>
                <a:schemeClr val="accent1"/>
              </a:buClr>
              <a:buSzPct val="100000"/>
              <a:buChar char="•"/>
            </a:pPr>
            <a:r>
              <a:rPr lang="en-US" sz="2000" b="1" dirty="0">
                <a:solidFill>
                  <a:schemeClr val="tx1"/>
                </a:solidFill>
              </a:rPr>
              <a:t>Current workflow, step by step</a:t>
            </a:r>
          </a:p>
          <a:p>
            <a:pPr marL="400050" indent="-400050">
              <a:spcAft>
                <a:spcPts val="700"/>
              </a:spcAft>
              <a:buClr>
                <a:schemeClr val="accent1"/>
              </a:buClr>
              <a:buSzPct val="100000"/>
              <a:buFont typeface="+mj-lt"/>
              <a:buAutoNum type="romanLcPeriod"/>
            </a:pPr>
            <a:r>
              <a:rPr lang="en-US" sz="1800" dirty="0">
                <a:solidFill>
                  <a:schemeClr val="tx1"/>
                </a:solidFill>
              </a:rPr>
              <a:t>Charger supplies current → cells heat up → module-level sensors read temperature → BMS raises cooling or limits charging power</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Optimus Prime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4206240"/>
          </a:xfrm>
          <a:prstGeom prst="rect">
            <a:avLst/>
          </a:prstGeom>
          <a:noFill/>
          <a:ln/>
        </p:spPr>
        <p:txBody>
          <a:bodyPr wrap="square" lIns="0" tIns="0" rIns="0" bIns="0" rtlCol="0" anchor="t"/>
          <a:lstStyle/>
          <a:p>
            <a:pPr marL="279400" indent="-279400">
              <a:spcAft>
                <a:spcPts val="900"/>
              </a:spcAft>
              <a:buClr>
                <a:schemeClr val="accent1"/>
              </a:buClr>
              <a:buSzPct val="100000"/>
              <a:buChar char="•"/>
            </a:pPr>
            <a:r>
              <a:rPr lang="en-US" sz="2000" b="1" dirty="0">
                <a:solidFill>
                  <a:schemeClr val="tx1"/>
                </a:solidFill>
              </a:rPr>
              <a:t>Main difficulties and bottlenecks</a:t>
            </a:r>
          </a:p>
          <a:p>
            <a:pPr marL="400050" indent="-400050">
              <a:spcAft>
                <a:spcPts val="700"/>
              </a:spcAft>
              <a:buClr>
                <a:schemeClr val="accent1"/>
              </a:buClr>
              <a:buSzPct val="100000"/>
              <a:buFont typeface="+mj-lt"/>
              <a:buAutoNum type="romanLcPeriod"/>
            </a:pPr>
            <a:r>
              <a:rPr lang="en-US" sz="1800" dirty="0">
                <a:solidFill>
                  <a:schemeClr val="tx1"/>
                </a:solidFill>
              </a:rPr>
              <a:t>Hot spots form at cell interfaces and tabs, but sensors are too sparse to see them</a:t>
            </a:r>
          </a:p>
          <a:p>
            <a:pPr marL="400050" indent="-400050">
              <a:spcAft>
                <a:spcPts val="700"/>
              </a:spcAft>
              <a:buClr>
                <a:schemeClr val="accent1"/>
              </a:buClr>
              <a:buSzPct val="100000"/>
              <a:buFont typeface="+mj-lt"/>
              <a:buAutoNum type="romanLcPeriod"/>
            </a:pPr>
            <a:r>
              <a:rPr lang="en-US" sz="1800" dirty="0">
                <a:solidFill>
                  <a:schemeClr val="tx1"/>
                </a:solidFill>
              </a:rPr>
              <a:t>Cooling cannot be directed at individual cells, so the whole pack is cooled the same way</a:t>
            </a:r>
          </a:p>
          <a:p>
            <a:pPr marL="279400" indent="-279400">
              <a:spcAft>
                <a:spcPts val="900"/>
              </a:spcAft>
              <a:buClr>
                <a:schemeClr val="accent1"/>
              </a:buClr>
              <a:buSzPct val="100000"/>
              <a:buChar char="•"/>
            </a:pPr>
            <a:r>
              <a:rPr lang="en-US" sz="2000" b="1" dirty="0">
                <a:solidFill>
                  <a:schemeClr val="tx1"/>
                </a:solidFill>
              </a:rPr>
              <a:t>Root causes behind them</a:t>
            </a:r>
          </a:p>
          <a:p>
            <a:pPr marL="400050" indent="-400050">
              <a:spcAft>
                <a:spcPts val="700"/>
              </a:spcAft>
              <a:buClr>
                <a:schemeClr val="accent1"/>
              </a:buClr>
              <a:buSzPct val="100000"/>
              <a:buFont typeface="+mj-lt"/>
              <a:buAutoNum type="romanLcPeriod"/>
            </a:pPr>
            <a:r>
              <a:rPr lang="en-US" sz="1800" dirty="0">
                <a:solidFill>
                  <a:schemeClr val="tx1"/>
                </a:solidFill>
              </a:rPr>
              <a:t>Uneven current distribution, differences in cell internal resistance, and limited heat paths between cells</a:t>
            </a:r>
          </a:p>
          <a:p>
            <a:pPr marL="400050" indent="-400050">
              <a:spcAft>
                <a:spcPts val="700"/>
              </a:spcAft>
              <a:buClr>
                <a:schemeClr val="accent1"/>
              </a:buClr>
              <a:buSzPct val="100000"/>
              <a:buFont typeface="+mj-lt"/>
              <a:buAutoNum type="romanLcPeriod"/>
            </a:pPr>
            <a:r>
              <a:rPr lang="en-US" sz="1800" dirty="0">
                <a:solidFill>
                  <a:schemeClr val="tx1"/>
                </a:solidFill>
              </a:rPr>
              <a:t>Per-cell sensing adds cost, wiring and complexity, so it is usually avoided</a:t>
            </a:r>
          </a:p>
          <a:p>
            <a:pPr marL="279400" indent="-279400">
              <a:spcAft>
                <a:spcPts val="900"/>
              </a:spcAft>
              <a:buClr>
                <a:schemeClr val="accent1"/>
              </a:buClr>
              <a:buSzPct val="100000"/>
              <a:buChar char="•"/>
            </a:pPr>
            <a:r>
              <a:rPr lang="en-US" sz="2000" b="1" dirty="0">
                <a:solidFill>
                  <a:schemeClr val="tx1"/>
                </a:solidFill>
              </a:rPr>
              <a:t>Consequences of leaving them unsolved</a:t>
            </a:r>
          </a:p>
          <a:p>
            <a:pPr marL="400050" indent="-400050">
              <a:spcAft>
                <a:spcPts val="700"/>
              </a:spcAft>
              <a:buClr>
                <a:schemeClr val="accent1"/>
              </a:buClr>
              <a:buSzPct val="100000"/>
              <a:buFont typeface="+mj-lt"/>
              <a:buAutoNum type="romanLcPeriod"/>
            </a:pPr>
            <a:r>
              <a:rPr lang="en-US" sz="1800" dirty="0">
                <a:solidFill>
                  <a:schemeClr val="tx1"/>
                </a:solidFill>
              </a:rPr>
              <a:t>Cells age unevenly and the weakest cell limits the life of the whole pack</a:t>
            </a:r>
          </a:p>
          <a:p>
            <a:pPr marL="400050" indent="-400050">
              <a:spcAft>
                <a:spcPts val="700"/>
              </a:spcAft>
              <a:buClr>
                <a:schemeClr val="accent1"/>
              </a:buClr>
              <a:buSzPct val="100000"/>
              <a:buFont typeface="+mj-lt"/>
              <a:buAutoNum type="romanLcPeriod"/>
            </a:pPr>
            <a:r>
              <a:rPr lang="en-US" sz="1800" dirty="0">
                <a:solidFill>
                  <a:schemeClr val="tx1"/>
                </a:solidFill>
              </a:rPr>
              <a:t>The BMS throttles charging power as a precaution, and thermal runaway risk rises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Optimus Prime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4206240"/>
          </a:xfrm>
          <a:prstGeom prst="rect">
            <a:avLst/>
          </a:prstGeom>
          <a:noFill/>
          <a:ln/>
        </p:spPr>
        <p:txBody>
          <a:bodyPr wrap="square" lIns="0" tIns="0" rIns="0" bIns="0" rtlCol="0" anchor="t"/>
          <a:lstStyle/>
          <a:p>
            <a:pPr marL="279400" indent="-279400">
              <a:spcAft>
                <a:spcPts val="900"/>
              </a:spcAft>
              <a:buClr>
                <a:schemeClr val="accent1"/>
              </a:buClr>
              <a:buSzPct val="100000"/>
              <a:buChar char="•"/>
            </a:pPr>
            <a:r>
              <a:rPr lang="en-US" sz="2000" b="1" dirty="0">
                <a:solidFill>
                  <a:schemeClr val="tx1"/>
                </a:solidFill>
              </a:rPr>
              <a:t>Existing methods, systems or alternatives</a:t>
            </a:r>
          </a:p>
          <a:p>
            <a:pPr marL="400050" indent="-400050">
              <a:spcAft>
                <a:spcPts val="700"/>
              </a:spcAft>
              <a:buClr>
                <a:schemeClr val="accent1"/>
              </a:buClr>
              <a:buSzPct val="100000"/>
              <a:buFont typeface="+mj-lt"/>
              <a:buAutoNum type="romanLcPeriod"/>
            </a:pPr>
            <a:r>
              <a:rPr lang="en-US" sz="1800" dirty="0">
                <a:solidFill>
                  <a:schemeClr val="tx1"/>
                </a:solidFill>
              </a:rPr>
              <a:t>Liquid cold plates and cooling ribbons (standard in production EVs); air cooling in older, low-power packs</a:t>
            </a:r>
          </a:p>
          <a:p>
            <a:pPr marL="400050" indent="-400050">
              <a:spcAft>
                <a:spcPts val="700"/>
              </a:spcAft>
              <a:buClr>
                <a:schemeClr val="accent1"/>
              </a:buClr>
              <a:buSzPct val="100000"/>
              <a:buFont typeface="+mj-lt"/>
              <a:buAutoNum type="romanLcPeriod"/>
            </a:pPr>
            <a:r>
              <a:rPr lang="en-US" sz="1800" dirty="0">
                <a:solidFill>
                  <a:schemeClr val="tx1"/>
                </a:solidFill>
              </a:rPr>
              <a:t>Immersion cooling in dielectric fluid and research-stage fibre-optic temperature sensing (emerging)</a:t>
            </a:r>
          </a:p>
          <a:p>
            <a:pPr marL="279400" indent="-279400">
              <a:spcAft>
                <a:spcPts val="900"/>
              </a:spcAft>
              <a:buClr>
                <a:schemeClr val="accent1"/>
              </a:buClr>
              <a:buSzPct val="100000"/>
              <a:buChar char="•"/>
            </a:pPr>
            <a:r>
              <a:rPr lang="en-US" sz="2000" b="1" dirty="0">
                <a:solidFill>
                  <a:schemeClr val="tx1"/>
                </a:solidFill>
              </a:rPr>
              <a:t>Limitations of each</a:t>
            </a:r>
          </a:p>
          <a:p>
            <a:pPr marL="400050" indent="-400050">
              <a:spcAft>
                <a:spcPts val="700"/>
              </a:spcAft>
              <a:buClr>
                <a:schemeClr val="accent1"/>
              </a:buClr>
              <a:buSzPct val="100000"/>
              <a:buFont typeface="+mj-lt"/>
              <a:buAutoNum type="romanLcPeriod"/>
            </a:pPr>
            <a:r>
              <a:rPr lang="en-US" sz="1800" dirty="0">
                <a:solidFill>
                  <a:schemeClr val="tx1"/>
                </a:solidFill>
              </a:rPr>
              <a:t>Cold plates cool uniformly with little local control; air cooling struggles at fast-charge heat loads</a:t>
            </a:r>
          </a:p>
          <a:p>
            <a:pPr marL="400050" indent="-400050">
              <a:spcAft>
                <a:spcPts val="700"/>
              </a:spcAft>
              <a:buClr>
                <a:schemeClr val="accent1"/>
              </a:buClr>
              <a:buSzPct val="100000"/>
              <a:buFont typeface="+mj-lt"/>
              <a:buAutoNum type="romanLcPeriod"/>
            </a:pPr>
            <a:r>
              <a:rPr lang="en-US" sz="1800" dirty="0">
                <a:solidFill>
                  <a:schemeClr val="tx1"/>
                </a:solidFill>
              </a:rPr>
              <a:t>Immersion is heavy, costly and harder to service; fibre-optic readout equipment is expensive</a:t>
            </a:r>
          </a:p>
          <a:p>
            <a:pPr marL="279400" indent="-279400">
              <a:spcAft>
                <a:spcPts val="900"/>
              </a:spcAft>
              <a:buClr>
                <a:schemeClr val="accent1"/>
              </a:buClr>
              <a:buSzPct val="100000"/>
              <a:buChar char="•"/>
            </a:pPr>
            <a:r>
              <a:rPr lang="en-US" sz="2000" b="1" dirty="0">
                <a:solidFill>
                  <a:schemeClr val="tx1"/>
                </a:solidFill>
              </a:rPr>
              <a:t>The gap they leave open (Key Challenges)</a:t>
            </a:r>
          </a:p>
          <a:p>
            <a:pPr marL="400050" indent="-400050">
              <a:spcAft>
                <a:spcPts val="700"/>
              </a:spcAft>
              <a:buClr>
                <a:schemeClr val="accent1"/>
              </a:buClr>
              <a:buSzPct val="100000"/>
              <a:buFont typeface="+mj-lt"/>
              <a:buAutoNum type="romanLcPeriod"/>
            </a:pPr>
            <a:r>
              <a:rPr lang="en-US" sz="1800" dirty="0">
                <a:solidFill>
                  <a:schemeClr val="tx1"/>
                </a:solidFill>
              </a:rPr>
              <a:t>No widely adopted, low-cost system links per-cell sensing to targeted cooling in real time</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Optimus Prime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80" y="2148840"/>
            <a:ext cx="10424160" cy="4206240"/>
          </a:xfrm>
          <a:prstGeom prst="rect">
            <a:avLst/>
          </a:prstGeom>
          <a:noFill/>
          <a:ln/>
        </p:spPr>
        <p:txBody>
          <a:bodyPr wrap="square" lIns="0" tIns="0" rIns="0" bIns="0" rtlCol="0" anchor="t"/>
          <a:lstStyle/>
          <a:p>
            <a:pPr marL="279400" indent="-279400">
              <a:spcAft>
                <a:spcPts val="700"/>
              </a:spcAft>
              <a:buClr>
                <a:schemeClr val="accent1"/>
              </a:buClr>
              <a:buSzPct val="100000"/>
              <a:buChar char="•"/>
            </a:pPr>
            <a:r>
              <a:rPr lang="en-US" sz="2000" b="1" dirty="0">
                <a:solidFill>
                  <a:schemeClr val="tx1"/>
                </a:solidFill>
              </a:rPr>
              <a:t>Hardware Requirements</a:t>
            </a:r>
          </a:p>
          <a:p>
            <a:pPr marL="400050" indent="-400050">
              <a:spcAft>
                <a:spcPts val="400"/>
              </a:spcAft>
              <a:buClr>
                <a:schemeClr val="accent1"/>
              </a:buClr>
              <a:buSzPct val="100000"/>
              <a:buFont typeface="+mj-lt"/>
              <a:buAutoNum type="romanLcPeriod"/>
            </a:pPr>
            <a:r>
              <a:rPr lang="en-US" sz="1800" dirty="0">
                <a:solidFill>
                  <a:schemeClr val="tx1"/>
                </a:solidFill>
              </a:rPr>
              <a:t>4–6 Li-ion cells (pouch or 21700) as a stand-in for solid-state cells, plus an enclosure and cell holders</a:t>
            </a:r>
          </a:p>
          <a:p>
            <a:pPr marL="400050" indent="-400050">
              <a:spcAft>
                <a:spcPts val="400"/>
              </a:spcAft>
              <a:buClr>
                <a:schemeClr val="accent1"/>
              </a:buClr>
              <a:buSzPct val="100000"/>
              <a:buFont typeface="+mj-lt"/>
              <a:buAutoNum type="romanLcPeriod"/>
            </a:pPr>
            <a:r>
              <a:rPr lang="en-US" sz="1800" dirty="0">
                <a:solidFill>
                  <a:schemeClr val="tx1"/>
                </a:solidFill>
              </a:rPr>
              <a:t>Mini-channel cold plate (3D-printed or machined), small pump, tubing and water–glycol coolant</a:t>
            </a:r>
          </a:p>
          <a:p>
            <a:pPr marL="400050" indent="-400050">
              <a:spcAft>
                <a:spcPts val="400"/>
              </a:spcAft>
              <a:buClr>
                <a:schemeClr val="accent1"/>
              </a:buClr>
              <a:buSzPct val="100000"/>
              <a:buFont typeface="+mj-lt"/>
              <a:buAutoNum type="romanLcPeriod"/>
            </a:pPr>
            <a:r>
              <a:rPr lang="en-US" sz="1800" dirty="0">
                <a:solidFill>
                  <a:schemeClr val="tx1"/>
                </a:solidFill>
              </a:rPr>
              <a:t>Thermistor/RTD sensor array, microcontroller (ESP32/Arduino), flow control, film heaters to emulate fast-charge heating</a:t>
            </a:r>
          </a:p>
          <a:p>
            <a:pPr marL="279400" indent="-279400">
              <a:spcAft>
                <a:spcPts val="700"/>
              </a:spcAft>
              <a:buClr>
                <a:schemeClr val="accent1"/>
              </a:buClr>
              <a:buSzPct val="100000"/>
              <a:buChar char="•"/>
            </a:pPr>
            <a:r>
              <a:rPr lang="en-US" sz="2000" b="1" dirty="0">
                <a:solidFill>
                  <a:schemeClr val="tx1"/>
                </a:solidFill>
              </a:rPr>
              <a:t>Software Requirements</a:t>
            </a:r>
          </a:p>
          <a:p>
            <a:pPr marL="400050" indent="-400050">
              <a:spcAft>
                <a:spcPts val="400"/>
              </a:spcAft>
              <a:buClr>
                <a:schemeClr val="accent1"/>
              </a:buClr>
              <a:buSzPct val="100000"/>
              <a:buFont typeface="+mj-lt"/>
              <a:buAutoNum type="romanLcPeriod"/>
            </a:pPr>
            <a:r>
              <a:rPr lang="en-US" sz="1800" dirty="0">
                <a:solidFill>
                  <a:schemeClr val="tx1"/>
                </a:solidFill>
              </a:rPr>
              <a:t>CAD (SolidWorks/Fusion) and thermal/CFD simulation (ANSYS or COMSOL)</a:t>
            </a:r>
          </a:p>
          <a:p>
            <a:pPr marL="400050" indent="-400050">
              <a:spcAft>
                <a:spcPts val="400"/>
              </a:spcAft>
              <a:buClr>
                <a:schemeClr val="accent1"/>
              </a:buClr>
              <a:buSzPct val="100000"/>
              <a:buFont typeface="+mj-lt"/>
              <a:buAutoNum type="romanLcPeriod"/>
            </a:pPr>
            <a:r>
              <a:rPr lang="en-US" sz="1800" dirty="0">
                <a:solidFill>
                  <a:schemeClr val="tx1"/>
                </a:solidFill>
              </a:rPr>
              <a:t>Python/MATLAB for data logging, a lumped thermal model and zone-wise control logic</a:t>
            </a:r>
          </a:p>
          <a:p>
            <a:pPr marL="279400" indent="-279400">
              <a:spcAft>
                <a:spcPts val="700"/>
              </a:spcAft>
              <a:buClr>
                <a:schemeClr val="accent1"/>
              </a:buClr>
              <a:buSzPct val="100000"/>
              <a:buChar char="•"/>
            </a:pPr>
            <a:r>
              <a:rPr lang="en-US" sz="2000" b="1" dirty="0">
                <a:solidFill>
                  <a:schemeClr val="tx1"/>
                </a:solidFill>
              </a:rPr>
              <a:t>Other resources (Including Human Resources)</a:t>
            </a:r>
          </a:p>
          <a:p>
            <a:pPr marL="400050" indent="-400050">
              <a:spcAft>
                <a:spcPts val="400"/>
              </a:spcAft>
              <a:buClr>
                <a:schemeClr val="accent1"/>
              </a:buClr>
              <a:buSzPct val="100000"/>
              <a:buFont typeface="+mj-lt"/>
              <a:buAutoNum type="romanLcPeriod"/>
            </a:pPr>
            <a:r>
              <a:rPr lang="en-US" sz="1800" dirty="0">
                <a:solidFill>
                  <a:schemeClr val="tx1"/>
                </a:solidFill>
              </a:rPr>
              <a:t>Lab access for fabrication and testing, safety equipment, and guidance from a faculty mentor</a:t>
            </a:r>
          </a:p>
          <a:p>
            <a:pPr marL="400050" indent="-400050">
              <a:spcAft>
                <a:spcPts val="400"/>
              </a:spcAft>
              <a:buClr>
                <a:schemeClr val="accent1"/>
              </a:buClr>
              <a:buSzPct val="100000"/>
              <a:buFont typeface="+mj-lt"/>
              <a:buAutoNum type="romanLcPeriod"/>
            </a:pPr>
            <a:r>
              <a:rPr lang="en-US" sz="1800" dirty="0">
                <a:solidFill>
                  <a:schemeClr val="tx1"/>
                </a:solidFill>
              </a:rPr>
              <a:t>Our team of four covering mechanical design, electronics, controls and simulation</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Optimus Prime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4206240"/>
          </a:xfrm>
          <a:prstGeom prst="rect">
            <a:avLst/>
          </a:prstGeom>
          <a:noFill/>
          <a:ln/>
        </p:spPr>
        <p:txBody>
          <a:bodyPr wrap="square" lIns="0" tIns="0" rIns="0" bIns="0" rtlCol="0" anchor="t"/>
          <a:lstStyle/>
          <a:p>
            <a:pPr marL="279400" indent="-279400">
              <a:spcAft>
                <a:spcPts val="700"/>
              </a:spcAft>
              <a:buClr>
                <a:schemeClr val="accent1"/>
              </a:buClr>
              <a:buSzPct val="100000"/>
              <a:buChar char="•"/>
            </a:pPr>
            <a:r>
              <a:rPr lang="en-US" sz="2000" b="1" dirty="0">
                <a:solidFill>
                  <a:schemeClr val="tx1"/>
                </a:solidFill>
              </a:rPr>
              <a:t>What your team intends to do</a:t>
            </a:r>
          </a:p>
          <a:p>
            <a:pPr marL="400050" indent="-400050">
              <a:spcAft>
                <a:spcPts val="400"/>
              </a:spcAft>
              <a:buClr>
                <a:schemeClr val="accent1"/>
              </a:buClr>
              <a:buSzPct val="100000"/>
              <a:buFont typeface="+mj-lt"/>
              <a:buAutoNum type="romanLcPeriod"/>
            </a:pPr>
            <a:r>
              <a:rPr lang="en-US" sz="1800" dirty="0">
                <a:solidFill>
                  <a:schemeClr val="tx1"/>
                </a:solidFill>
              </a:rPr>
              <a:t>Design a scalable battery module enclosure with a mini-channel cooling plate and a per-cell temperature sensor array</a:t>
            </a:r>
          </a:p>
          <a:p>
            <a:pPr marL="400050" indent="-400050">
              <a:spcAft>
                <a:spcPts val="400"/>
              </a:spcAft>
              <a:buClr>
                <a:schemeClr val="accent1"/>
              </a:buClr>
              <a:buSzPct val="100000"/>
              <a:buFont typeface="+mj-lt"/>
              <a:buAutoNum type="romanLcPeriod"/>
            </a:pPr>
            <a:r>
              <a:rPr lang="en-US" sz="1800" dirty="0">
                <a:solidFill>
                  <a:schemeClr val="tx1"/>
                </a:solidFill>
              </a:rPr>
              <a:t>Add a controller that sends more coolant to the hottest zones, built to be chemistry-agnostic so it can later host solid-state cells</a:t>
            </a:r>
          </a:p>
          <a:p>
            <a:pPr marL="279400" indent="-279400">
              <a:spcAft>
                <a:spcPts val="700"/>
              </a:spcAft>
              <a:buClr>
                <a:schemeClr val="accent1"/>
              </a:buClr>
              <a:buSzPct val="100000"/>
              <a:buChar char="•"/>
            </a:pPr>
            <a:r>
              <a:rPr lang="en-US" sz="2000" b="1" dirty="0">
                <a:solidFill>
                  <a:schemeClr val="tx1"/>
                </a:solidFill>
              </a:rPr>
              <a:t>What you want to improve</a:t>
            </a:r>
          </a:p>
          <a:p>
            <a:pPr marL="400050" indent="-400050">
              <a:spcAft>
                <a:spcPts val="400"/>
              </a:spcAft>
              <a:buClr>
                <a:schemeClr val="accent1"/>
              </a:buClr>
              <a:buSzPct val="100000"/>
              <a:buFont typeface="+mj-lt"/>
              <a:buAutoNum type="romanLcPeriod"/>
            </a:pPr>
            <a:r>
              <a:rPr lang="en-US" sz="1800" dirty="0">
                <a:solidFill>
                  <a:schemeClr val="tx1"/>
                </a:solidFill>
              </a:rPr>
              <a:t>Cell-to-cell temperature spread and peak temperature during fast-charge-like loads</a:t>
            </a:r>
          </a:p>
          <a:p>
            <a:pPr marL="400050" indent="-400050">
              <a:spcAft>
                <a:spcPts val="400"/>
              </a:spcAft>
              <a:buClr>
                <a:schemeClr val="accent1"/>
              </a:buClr>
              <a:buSzPct val="100000"/>
              <a:buFont typeface="+mj-lt"/>
              <a:buAutoNum type="romanLcPeriod"/>
            </a:pPr>
            <a:r>
              <a:rPr lang="en-US" sz="1800" dirty="0">
                <a:solidFill>
                  <a:schemeClr val="tx1"/>
                </a:solidFill>
              </a:rPr>
              <a:t>Cooling energy used, compared with uniform cooling</a:t>
            </a:r>
          </a:p>
          <a:p>
            <a:pPr marL="279400" indent="-279400">
              <a:spcAft>
                <a:spcPts val="700"/>
              </a:spcAft>
              <a:buClr>
                <a:schemeClr val="accent1"/>
              </a:buClr>
              <a:buSzPct val="100000"/>
              <a:buChar char="•"/>
            </a:pPr>
            <a:r>
              <a:rPr lang="en-US" sz="2000" b="1" dirty="0">
                <a:solidFill>
                  <a:schemeClr val="tx1"/>
                </a:solidFill>
              </a:rPr>
              <a:t>What successful improvement should you achieve</a:t>
            </a:r>
          </a:p>
          <a:p>
            <a:pPr marL="400050" indent="-400050">
              <a:spcAft>
                <a:spcPts val="400"/>
              </a:spcAft>
              <a:buClr>
                <a:schemeClr val="accent1"/>
              </a:buClr>
              <a:buSzPct val="100000"/>
              <a:buFont typeface="+mj-lt"/>
              <a:buAutoNum type="romanLcPeriod"/>
            </a:pPr>
            <a:r>
              <a:rPr lang="en-US" sz="1800" dirty="0">
                <a:solidFill>
                  <a:schemeClr val="tx1"/>
                </a:solidFill>
              </a:rPr>
              <a:t>Initial targets (to be validated): spread within about 5 °C and peak temperature below about 40 °C</a:t>
            </a:r>
          </a:p>
          <a:p>
            <a:pPr marL="400050" indent="-400050">
              <a:spcAft>
                <a:spcPts val="400"/>
              </a:spcAft>
              <a:buClr>
                <a:schemeClr val="accent1"/>
              </a:buClr>
              <a:buSzPct val="100000"/>
              <a:buFont typeface="+mj-lt"/>
              <a:buAutoNum type="romanLcPeriod"/>
            </a:pPr>
            <a:r>
              <a:rPr lang="en-US" sz="1800" dirty="0">
                <a:solidFill>
                  <a:schemeClr val="tx1"/>
                </a:solidFill>
              </a:rPr>
              <a:t>Shown first in simulation, then on a small 4–6 cell demo module</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1009</Words>
  <Application>Microsoft Office PowerPoint</Application>
  <PresentationFormat>Widescreen</PresentationFormat>
  <Paragraphs>110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Manu K - [CB.EN.U4ARE25026]</cp:lastModifiedBy>
  <cp:revision>2</cp:revision>
  <dcterms:created xsi:type="dcterms:W3CDTF">2026-10-07T15:27:40Z</dcterms:created>
  <dcterms:modified xsi:type="dcterms:W3CDTF">2026-10-10T09:53:40Z</dcterms:modified>
</cp:coreProperties>
</file>